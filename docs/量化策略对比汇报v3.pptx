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先统一口径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，再</a:t>
            </a: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</a:t>
            </a: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优劣</a:t>
            </a:r>
            <a:endParaRPr lang="zh-CN" alt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两套策略的优劣，不能只看最终收益，更要先看底层资产配置框架是否合理、可比、可解释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SAA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4160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SAA（战略资产配置）解决的是更底层的问题：客户资金应先按什么风险收益结构分配到不同大类资产。它不是先回答“买哪只产品”，而是先确定现金、固收、股票、另类各自配多少。SAA 决定组合的长期骨架，产品选择与战术调整都在此基础上展开。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347472" cy="34747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03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" y="206654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大类资产比例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23042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决定核心收益来源与波动来源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61488"/>
            <a:ext cx="347472" cy="347472"/>
          </a:xfrm>
          <a:prstGeom prst="ellipse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614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272491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资产间相关性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8096" y="296265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决定组合能否真正分散风险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36976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19856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198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" y="338328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风险匹配度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" y="36210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决定方案是否适合、拿得住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95344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078224"/>
            <a:ext cx="347472" cy="347472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782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" y="4041648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投资期限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8096" y="427939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决定风险预算高低与时点约束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553712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00584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比较前必须统一四项基础条件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1316736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F479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1316736"/>
            <a:ext cx="54864" cy="53035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1399032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统一资产口径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38344" y="1645920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将所有产品映射到 CASH / BOND / EQUITY / ALT 四类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1920240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1A8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1920240"/>
            <a:ext cx="54864" cy="530352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344" y="2002536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统一风险锚体系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38344" y="2249424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 × 风险等级乘数确定每个画像的风险预算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2523744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2E8B5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2523744"/>
            <a:ext cx="54864" cy="5303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38344" y="2606040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统一客户画像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38344" y="2852928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基于相同的 35 个 C1~C5 × S1~S7 客户分类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3127248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E05C4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3127248"/>
            <a:ext cx="54864" cy="53035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38344" y="3209544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统一评价维度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38344" y="3456432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同时比较收益、夏普、风险匹配度与极端回撤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先统一比较口径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只有先统一资产定义、收益表征口径和风险标准，两套策略的比较结果才具备解释性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四大类资产统一映射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1280160"/>
          <a:ext cx="4663440" cy="150876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3200400"/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资产类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定义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指数口径（Total Return）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中债货币市场基金可投资债券财富（总值）指数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固收类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中债新综合指数·财富指数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股票类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沪深 300 全收益指数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另类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× AU9999 + 30% × 南华商品指数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285292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为什么必须先统一资产口径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20040" y="3108960"/>
            <a:ext cx="4663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若不统一，比较结果会混入资产定义差异、分类映射差异、指数口径差异、产品池差异，最终得到的不是纯粹策略差异，而是“口径差异 + 策略差异”的混合结果。统一到底层四大类资产后，收益、波动、夏普、回撤等指标才建立在一致的市场基准上。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66360" y="100584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两层风险锚体系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66360" y="1280160"/>
            <a:ext cx="3611880" cy="731520"/>
          </a:xfrm>
          <a:prstGeom prst="rect">
            <a:avLst/>
          </a:prstGeom>
          <a:solidFill>
            <a:srgbClr val="FFFAF4"/>
          </a:solidFill>
          <a:ln w="12700">
            <a:solidFill>
              <a:srgbClr val="F479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66360" y="1280160"/>
            <a:ext cx="79375" cy="7315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21808" y="13533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  →  σ_stage_max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21808" y="159105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决定风险预算基础上限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年轻阶段 human capital 高，越接近退休越收敛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166360" y="2121408"/>
            <a:ext cx="3611880" cy="731520"/>
          </a:xfrm>
          <a:prstGeom prst="rect">
            <a:avLst/>
          </a:prstGeom>
          <a:solidFill>
            <a:srgbClr val="FFFAF4"/>
          </a:solidFill>
          <a:ln w="12700">
            <a:solidFill>
              <a:srgbClr val="1A8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66360" y="2121535"/>
            <a:ext cx="76200" cy="73152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1808" y="219456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风险等级  →  m_risk 乘数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321808" y="243230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决定同一生命周期内的横向分层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保守 0.45  →  C5 激进 1.00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66360" y="3017520"/>
            <a:ext cx="3587115" cy="1019810"/>
          </a:xfrm>
          <a:prstGeom prst="rect">
            <a:avLst/>
          </a:prstGeom>
          <a:solidFill>
            <a:srgbClr val="FEF0E3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5157470" y="3017520"/>
            <a:ext cx="78740" cy="1005205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21808" y="307238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核心计算变量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21808" y="3291840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σ_cap = σ_stage_max × m_risk （画像风险上限）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σ_mid = 0.8 × σ_cap （目标风险中枢）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σ_min = 0.6 × σ_cap （风险预算使用下界）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MaxDD （最大回撤红线，独立约束）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167128" y="44851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46888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315968" y="44851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1772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64808" y="44851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6656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策略比较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风险锚参数表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本报告用“生命周期参数 × 风险等级乘数”定义每个客户画像的风险上限，以最大回撤红线补充尾部约束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生命周期参数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1280160"/>
          <a:ext cx="5166360" cy="2029968"/>
        </p:xfrm>
        <a:graphic>
          <a:graphicData uri="http://schemas.openxmlformats.org/drawingml/2006/table">
            <a:tbl>
              <a:tblPr/>
              <a:tblGrid>
                <a:gridCol w="384048"/>
                <a:gridCol w="804672"/>
                <a:gridCol w="749808"/>
                <a:gridCol w="3227832"/>
              </a:tblGrid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生命周期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σ_stage_max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设计依据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刚毕业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积累早期，人力资本高，投资期限长，可承受较高波动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单身青年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仍以长期积累为主，财务负担相对轻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二人世界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家庭责任上升，风险预算适度收敛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小孩学前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现金流支出增加，风险预算维持中等水平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成年前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教育与家庭支出压力上升，风险进一步收敛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子女成年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进入财富稳态与退休准备阶段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退休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以保值、回撤控制与流动性管理为主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0" y="10058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风险等级乘数与回撤红线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5669280" y="1280160"/>
          <a:ext cx="3108960" cy="1463040"/>
        </p:xfrm>
        <a:graphic>
          <a:graphicData uri="http://schemas.openxmlformats.org/drawingml/2006/table">
            <a:tbl>
              <a:tblPr/>
              <a:tblGrid>
                <a:gridCol w="365760"/>
                <a:gridCol w="645795"/>
                <a:gridCol w="608330"/>
                <a:gridCol w="1489075"/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等级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m_risk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保守型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稳健型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平衡型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进取型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激进型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669280" y="2901315"/>
            <a:ext cx="3066415" cy="531495"/>
          </a:xfrm>
          <a:prstGeom prst="rect">
            <a:avLst/>
          </a:prstGeom>
          <a:solidFill>
            <a:srgbClr val="FEF0E3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0" y="2901950"/>
            <a:ext cx="54864" cy="53035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15584" y="288036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计算示例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815584" y="309067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C3/S3: 0.14 × 0.75 = 10.5% C1/S7: 0.08 × 0.45 = 3.6% C5/S1: 0.16 × 1.00 = 16.0%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0040" y="3821430"/>
            <a:ext cx="8503920" cy="930910"/>
          </a:xfrm>
          <a:prstGeom prst="rect">
            <a:avLst/>
          </a:prstGeom>
          <a:solidFill>
            <a:srgbClr val="FFFAF4"/>
          </a:solidFill>
          <a:ln w="12700">
            <a:solidFill>
              <a:srgbClr val="D8D0C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02920" y="341071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75615" y="3863340"/>
            <a:ext cx="8303260" cy="821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统一风险锚体系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不是随意设定，而是参考了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Vanguard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等海外主流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Target-Date Fund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glide path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设计思路，用于支撑风险预算随人生阶段递减、随风险偏好分层的设计逻辑。</a:t>
            </a:r>
            <a:endParaRPr lang="en-US" altLang="en-US" sz="10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年轻阶段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capital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更高，可承受更高波动</a:t>
            </a:r>
            <a:endParaRPr lang="zh-CN" altLang="en-US" sz="10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zh-CN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生命周期后段投资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horizon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更短</a:t>
            </a:r>
            <a:r>
              <a:rPr lang="en-US" altLang="zh-CN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越难承受大回撤后的修复周期</a:t>
            </a:r>
            <a:endParaRPr lang="zh-CN" altLang="en-US" sz="10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20294" y="462711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37176" y="3410712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37176" y="363016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个画像风险梯度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生命周期与风险等级组合后，形成 35 个客户画像的连续风险梯度，覆盖 3.6% ～ 16.0% 的完整 σ_cap 区间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6309360" cy="29992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84848" y="100584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梯度规律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84848" y="1316736"/>
            <a:ext cx="2011680" cy="768096"/>
          </a:xfrm>
          <a:prstGeom prst="rect">
            <a:avLst/>
          </a:prstGeom>
          <a:solidFill>
            <a:srgbClr val="FFFAF4"/>
          </a:solidFill>
          <a:ln w="12700">
            <a:solidFill>
              <a:srgbClr val="F479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84848" y="1316736"/>
            <a:ext cx="54864" cy="76809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31152" y="1389888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横向分层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31152" y="1609344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同一生命周期内，风险等级越高，σ_cap 越大——反映适当性差异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84848" y="2212848"/>
            <a:ext cx="2011680" cy="768096"/>
          </a:xfrm>
          <a:prstGeom prst="rect">
            <a:avLst/>
          </a:prstGeom>
          <a:solidFill>
            <a:srgbClr val="FFFAF4"/>
          </a:solidFill>
          <a:ln w="12700">
            <a:solidFill>
              <a:srgbClr val="1A8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84848" y="2212848"/>
            <a:ext cx="54864" cy="768096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31152" y="2286000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纵向递减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31152" y="2505456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同一风险等级下，生命周期越靠后，σ_cap 越小——反映时间结构约束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84848" y="3108960"/>
            <a:ext cx="2011680" cy="768096"/>
          </a:xfrm>
          <a:prstGeom prst="rect">
            <a:avLst/>
          </a:prstGeom>
          <a:solidFill>
            <a:srgbClr val="FFFAF4"/>
          </a:solidFill>
          <a:ln w="12700">
            <a:solidFill>
              <a:srgbClr val="2E8B5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84848" y="3108960"/>
            <a:ext cx="54864" cy="7680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1152" y="3182112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连续梯度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31152" y="340156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两组变量正交组合，形成连续分布，比粗颗粒规则能更细致刻画差异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4041648"/>
            <a:ext cx="8595360" cy="365760"/>
          </a:xfrm>
          <a:prstGeom prst="rect">
            <a:avLst/>
          </a:prstGeom>
          <a:solidFill>
            <a:srgbClr val="ECEAE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4096512"/>
            <a:ext cx="8339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后续所有策略比较均在这 35 个画像的统一风险预算地图上进行——相同画像下的配置权重、收益、夏普、风险匹配结果，才具备直接可比性。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 wrap="square" lIns="0" tIns="0" rIns="0" bIns="0" rtlCol="0" anchor="ctr"/>
          <a:lstStyle/>
          <a:p/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vs 420 案例</a:t>
            </a:r>
            <a:endParaRPr 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ubBand"/>
          <p:cNvSpPr/>
          <p:nvPr/>
        </p:nvSpPr>
        <p:spPr>
          <a:xfrm>
            <a:off x="320040" y="512064"/>
            <a:ext cx="8503920" cy="320000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  <p:txBody>
          <a:bodyPr wrap="square" lIns="0" tIns="0" rIns="0" bIns="0" rtlCol="0" anchor="ctr"/>
          <a:lstStyle/>
          <a:p/>
        </p:txBody>
      </p:sp>
      <p:sp>
        <p:nvSpPr>
          <p:cNvPr id="5" name="Accent"/>
          <p:cNvSpPr/>
          <p:nvPr/>
        </p:nvSpPr>
        <p:spPr>
          <a:xfrm>
            <a:off x="320040" y="512064"/>
            <a:ext cx="54864" cy="320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 wrap="square" lIns="0" tIns="0" rIns="0" bIns="0" rtlCol="0" anchor="ctr"/>
          <a:lstStyle/>
          <a:p/>
        </p:txBody>
      </p:sp>
      <p:sp>
        <p:nvSpPr>
          <p:cNvPr id="6" name="Subtitle"/>
          <p:cNvSpPr/>
          <p:nvPr/>
        </p:nvSpPr>
        <p:spPr>
          <a:xfrm>
            <a:off x="475488" y="512064"/>
            <a:ext cx="8350000" cy="3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C5_S1 激进型 · 刚毕业：将 10% 股票仓位置换为另类资产（ALT），带来收益更高、波动更低、回撤更小的反直觉改善</a:t>
            </a:r>
            <a:endParaRPr lang="en-US" sz="1000" i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5" name="Shape"/>
          <p:cNvSpPr/>
          <p:nvPr/>
        </p:nvSpPr>
        <p:spPr>
          <a:xfrm>
            <a:off x="320040" y="900000"/>
            <a:ext cx="210000" cy="210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6" name="Shape"/>
          <p:cNvSpPr/>
          <p:nvPr/>
        </p:nvSpPr>
        <p:spPr>
          <a:xfrm>
            <a:off x="550040" y="900000"/>
            <a:ext cx="2550000" cy="2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客户画像 · 配置权重</a:t>
            </a:r>
            <a:endParaRPr lang="en-US" sz="11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7" name="Shape"/>
          <p:cNvSpPr/>
          <p:nvPr/>
        </p:nvSpPr>
        <p:spPr>
          <a:xfrm>
            <a:off x="3195000" y="900000"/>
            <a:ext cx="210000" cy="210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8" name="Shape"/>
          <p:cNvSpPr/>
          <p:nvPr/>
        </p:nvSpPr>
        <p:spPr>
          <a:xfrm>
            <a:off x="3425000" y="900000"/>
            <a:ext cx="2440000" cy="2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相关性矩阵（10年）</a:t>
            </a:r>
            <a:endParaRPr lang="en-US" sz="11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9" name="Shape"/>
          <p:cNvSpPr/>
          <p:nvPr/>
        </p:nvSpPr>
        <p:spPr>
          <a:xfrm>
            <a:off x="5960000" y="900000"/>
            <a:ext cx="210000" cy="210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0" name="Shape"/>
          <p:cNvSpPr/>
          <p:nvPr/>
        </p:nvSpPr>
        <p:spPr>
          <a:xfrm>
            <a:off x="6190000" y="900000"/>
            <a:ext cx="2640000" cy="2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业绩结果对比（10年）</a:t>
            </a:r>
            <a:endParaRPr lang="en-US" sz="11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1" name="Shape"/>
          <p:cNvSpPr/>
          <p:nvPr/>
        </p:nvSpPr>
        <p:spPr>
          <a:xfrm>
            <a:off x="346075" y="1276130"/>
            <a:ext cx="2780000" cy="18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σ_mid = 12.80%  ·  MaxDD = −25%  ·  C5 激进 × S1 刚毕业</a:t>
            </a:r>
            <a:endParaRPr lang="en-US" sz="870" i="1" dirty="0">
              <a:solidFill>
                <a:srgbClr val="F479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212" name="Table"/>
          <p:cNvGraphicFramePr>
            <a:graphicFrameLocks noGrp="1"/>
          </p:cNvGraphicFramePr>
          <p:nvPr/>
        </p:nvGraphicFramePr>
        <p:xfrm>
          <a:off x="307340" y="1628445"/>
          <a:ext cx="2780030" cy="803910"/>
        </p:xfrm>
        <a:graphic>
          <a:graphicData uri="http://schemas.openxmlformats.org/drawingml/2006/table">
            <a:tbl>
              <a:tblPr/>
              <a:tblGrid>
                <a:gridCol w="560000"/>
                <a:gridCol w="470000"/>
                <a:gridCol w="469900"/>
                <a:gridCol w="640100"/>
                <a:gridCol w="640000"/>
              </a:tblGrid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85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85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3"/>
                    </a:solidFill>
                  </a:tcPr>
                </a:tc>
              </a:tr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850" b="1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  <p:sp>
        <p:nvSpPr>
          <p:cNvPr id="213" name="Shape"/>
          <p:cNvSpPr/>
          <p:nvPr/>
        </p:nvSpPr>
        <p:spPr>
          <a:xfrm>
            <a:off x="320040" y="2427605"/>
            <a:ext cx="2780030" cy="2332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vs EQUITY（2016–2026）</a:t>
            </a:r>
            <a:endParaRPr lang="en-US" sz="12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ALT 年化收益 15.36%，波动率 10.81%</a:t>
            </a:r>
            <a:endParaRPr lang="en-US" sz="12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EQUITY 年化收益 7.38%，波动率 17.36%</a:t>
            </a:r>
            <a:endParaRPr lang="en-US" sz="12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单位风险回报更优，是 420 显著低配的资产。</a:t>
            </a:r>
            <a:endParaRPr lang="en-US" sz="1200" i="1" dirty="0">
              <a:solidFill>
                <a:srgbClr val="5959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214" name="Table"/>
          <p:cNvGraphicFramePr>
            <a:graphicFrameLocks noGrp="1"/>
          </p:cNvGraphicFramePr>
          <p:nvPr/>
        </p:nvGraphicFramePr>
        <p:xfrm>
          <a:off x="3195000" y="1370000"/>
          <a:ext cx="2670000" cy="1340000"/>
        </p:xfrm>
        <a:graphic>
          <a:graphicData uri="http://schemas.openxmlformats.org/drawingml/2006/table">
            <a:tbl>
              <a:tblPr/>
              <a:tblGrid>
                <a:gridCol w="400000"/>
                <a:gridCol w="567500"/>
                <a:gridCol w="567500"/>
                <a:gridCol w="567500"/>
                <a:gridCol w="567500"/>
              </a:tblGrid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债券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股票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另类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−0.13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债券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−0.24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股票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−0.24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</a:t>
                      </a:r>
                      <a:endParaRPr lang="en-US" sz="82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3"/>
                    </a:solidFill>
                  </a:tcPr>
                </a:tc>
              </a:tr>
              <a:tr h="268000"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另类</a:t>
                      </a:r>
                      <a:endParaRPr lang="en-US" sz="82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−0.13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</a:t>
                      </a:r>
                      <a:endParaRPr lang="en-US" sz="82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3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2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2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  <p:sp>
        <p:nvSpPr>
          <p:cNvPr id="215" name="Shape"/>
          <p:cNvSpPr/>
          <p:nvPr/>
        </p:nvSpPr>
        <p:spPr>
          <a:xfrm>
            <a:off x="3195000" y="2810000"/>
            <a:ext cx="2670000" cy="19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另类资产与股票相关系数仅</a:t>
            </a:r>
            <a:r>
              <a:rPr lang="en-US" alt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+0.14</a:t>
            </a:r>
            <a:r>
              <a:rPr lang="zh-CN" alt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，走势近乎独立</a:t>
            </a:r>
            <a:r>
              <a:rPr lang="zh-CN" alt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，加入组合后以分散效应压低整体波动率。</a:t>
            </a:r>
            <a:endParaRPr lang="zh-CN" altLang="en-US" sz="12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216" name="Table"/>
          <p:cNvGraphicFramePr>
            <a:graphicFrameLocks noGrp="1"/>
          </p:cNvGraphicFramePr>
          <p:nvPr/>
        </p:nvGraphicFramePr>
        <p:xfrm>
          <a:off x="5960000" y="1370000"/>
          <a:ext cx="2870000" cy="1400000"/>
        </p:xfrm>
        <a:graphic>
          <a:graphicData uri="http://schemas.openxmlformats.org/drawingml/2006/table">
            <a:tbl>
              <a:tblPr/>
              <a:tblGrid>
                <a:gridCol w="880000"/>
                <a:gridCol w="620000"/>
                <a:gridCol w="620000"/>
                <a:gridCol w="750000"/>
              </a:tblGrid>
              <a:tr h="280000">
                <a:tc>
                  <a:txBody>
                    <a:bodyPr/>
                    <a:lstStyle/>
                    <a:p>
                      <a:pPr marL="3683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差值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marL="36830" indent="0" algn="l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年化收益率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9.82%</a:t>
                      </a:r>
                      <a:endParaRPr lang="en-US" sz="85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3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8.44%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+1.38%</a:t>
                      </a:r>
                      <a:endParaRPr lang="en-US" sz="850" b="1" dirty="0">
                        <a:solidFill>
                          <a:srgbClr val="228B2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marL="36830" indent="0" algn="l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年化波动率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9.08%</a:t>
                      </a:r>
                      <a:endParaRPr lang="en-US" sz="85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3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−0.91%</a:t>
                      </a:r>
                      <a:endParaRPr lang="en-US" sz="850" b="1" dirty="0">
                        <a:solidFill>
                          <a:srgbClr val="228B2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marL="36830" indent="0" algn="l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夏普比率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85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3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+0.194</a:t>
                      </a:r>
                      <a:endParaRPr lang="en-US" sz="850" b="1" dirty="0">
                        <a:solidFill>
                          <a:srgbClr val="228B2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marL="36830" indent="0" algn="l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最大回撤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F47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−12.62%</a:t>
                      </a:r>
                      <a:endParaRPr lang="en-US" sz="850" b="1" dirty="0">
                        <a:solidFill>
                          <a:srgbClr val="F479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3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−16.23%</a:t>
                      </a:r>
                      <a:endParaRPr lang="en-US" sz="850" dirty="0">
                        <a:solidFill>
                          <a:srgbClr val="1E3A5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36830" indent="0" algn="ctr">
                        <a:buNone/>
                      </a:pPr>
                      <a:r>
                        <a:rPr lang="en-US" sz="850" b="1" dirty="0">
                          <a:solidFill>
                            <a:srgbClr val="228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+3.61%</a:t>
                      </a:r>
                      <a:endParaRPr lang="en-US" sz="850" b="1" dirty="0">
                        <a:solidFill>
                          <a:srgbClr val="228B2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  <p:sp>
        <p:nvSpPr>
          <p:cNvPr id="217" name="Shape"/>
          <p:cNvSpPr/>
          <p:nvPr/>
        </p:nvSpPr>
        <p:spPr>
          <a:xfrm>
            <a:off x="5960000" y="2870000"/>
            <a:ext cx="2870000" cy="18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夏普比率提升 30%，每单位风险超额回报显著更优。</a:t>
            </a:r>
            <a:endParaRPr lang="en-US" sz="12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最大回撤改善 3.61pp，两策略均未触及 −25% 红线。</a:t>
            </a:r>
            <a:endParaRPr lang="en-US" sz="12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对积累初期客户：更强抗压能力与持有体验。</a:t>
            </a:r>
            <a:endParaRPr lang="en-US" sz="1200" i="1" dirty="0">
              <a:solidFill>
                <a:srgbClr val="5959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8" name="Shape"/>
          <p:cNvSpPr/>
          <p:nvPr/>
        </p:nvSpPr>
        <p:spPr>
          <a:xfrm>
            <a:off x="3125040" y="880000"/>
            <a:ext cx="8000" cy="3940000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  <p:txBody>
          <a:bodyPr wrap="square" lIns="0" tIns="0" rIns="0" bIns="0" rtlCol="0" anchor="ctr"/>
          <a:lstStyle/>
          <a:p/>
        </p:txBody>
      </p:sp>
      <p:sp>
        <p:nvSpPr>
          <p:cNvPr id="219" name="Shape"/>
          <p:cNvSpPr/>
          <p:nvPr/>
        </p:nvSpPr>
        <p:spPr>
          <a:xfrm>
            <a:off x="5890000" y="880000"/>
            <a:ext cx="8000" cy="3940000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  <p:txBody>
          <a:bodyPr wrap="square" lIns="0" tIns="0" rIns="0" bIns="0" rtlCol="0" anchor="ctr"/>
          <a:lstStyle/>
          <a:p/>
        </p:txBody>
      </p:sp>
      <p:sp>
        <p:nvSpPr>
          <p:cNvPr id="100" name="Footer L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1" name="Footer R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收益与效率对比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1年、3年、5年、10年四个窗口中，3.0 的平均年化收益与平均夏普全面领先，且未见明显风险超配痕迹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595"/>
            <a:ext cx="7499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0"/>
            <a:ext cx="4114800" cy="2395728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05840"/>
            <a:ext cx="4114800" cy="2395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343814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平均年化收益率对比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73168" y="343814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平均夏普比率对比（橙色区域为领先幅度）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56032" y="3675888"/>
          <a:ext cx="8631936" cy="1028700"/>
        </p:xfrm>
        <a:graphic>
          <a:graphicData uri="http://schemas.openxmlformats.org/drawingml/2006/table">
            <a:tbl>
              <a:tblPr/>
              <a:tblGrid>
                <a:gridCol w="384048"/>
                <a:gridCol w="841248"/>
                <a:gridCol w="841248"/>
                <a:gridCol w="621792"/>
                <a:gridCol w="621792"/>
                <a:gridCol w="713232"/>
                <a:gridCol w="713232"/>
                <a:gridCol w="932688"/>
                <a:gridCol w="932688"/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窗口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年化收益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年化收益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11.78%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7.46%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7.17%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5.07%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384048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560320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2560320" y="4782312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736592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736592" y="4782312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912864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507734" y="4809617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风险匹配与胜率对比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的收益优势并非建立在明显偏离风险预算之上——|Δσ| 更低，胜率更高，回撤约束两者均满足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0"/>
            <a:ext cx="4114800" cy="2331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336499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|Δσ| 对比（越低越贴近风险预算）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56032" y="3602736"/>
          <a:ext cx="4114800" cy="1295400"/>
        </p:xfrm>
        <a:graphic>
          <a:graphicData uri="http://schemas.openxmlformats.org/drawingml/2006/table">
            <a:tbl>
              <a:tblPr/>
              <a:tblGrid>
                <a:gridCol w="411480"/>
                <a:gridCol w="640080"/>
                <a:gridCol w="640080"/>
                <a:gridCol w="640080"/>
                <a:gridCol w="914400"/>
                <a:gridCol w="868680"/>
              </a:tblGrid>
              <a:tr h="1609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窗口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3.0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420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差值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3.0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420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−0.53%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663440" y="10058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相对 420 的胜率（35 个画像中 3.0 优于 420 的比例）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98448"/>
            <a:ext cx="4206240" cy="2048256"/>
          </a:xfrm>
          <a:prstGeom prst="rect">
            <a:avLst/>
          </a:prstGeom>
        </p:spPr>
      </p:pic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4663440" y="3383280"/>
          <a:ext cx="4206240" cy="804672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005840"/>
                <a:gridCol w="1645920"/>
              </a:tblGrid>
              <a:tr h="1609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窗口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收益胜率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夏普胜率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风险匹配胜率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4663440" y="4759325"/>
            <a:ext cx="2491740" cy="273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|Δσ| = |组合实际年化波动率 − σ_mid|，衡量组合风险对目标风险中枢的偏离程度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02336" y="4485132"/>
            <a:ext cx="8485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3164</Words>
  <Application>WPS Docs</Application>
  <PresentationFormat>On-screen Show (16:9)</PresentationFormat>
  <Paragraphs>616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SimSun</vt:lpstr>
      <vt:lpstr>汉仪书宋二KW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量化策略对比汇报</dc:title>
  <dc:creator>PptxGenJS</dc:creator>
  <dc:subject>PptxGenJS Presentation</dc:subject>
  <cp:lastModifiedBy>Leon LZY</cp:lastModifiedBy>
  <cp:revision>17</cp:revision>
  <dcterms:created xsi:type="dcterms:W3CDTF">2026-04-15T03:10:41Z</dcterms:created>
  <dcterms:modified xsi:type="dcterms:W3CDTF">2026-04-15T03:10:41Z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0E7A31594B5278B33268DE69CF563D09_42</vt:lpwstr>
  </property>
  <property fmtid="{D5CDD505-2E9C-101B-9397-08002B2CF9AE}" pid="3" name="KSOProductBuildVer">
    <vt:lpwstr>1033-12.1.25205.25205</vt:lpwstr>
  </property>
</Properties>
</file>