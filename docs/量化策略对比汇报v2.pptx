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先统一口径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，再</a:t>
            </a:r>
            <a:r>
              <a:rPr lang="zh-CN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比较</a:t>
            </a:r>
            <a:r>
              <a:rPr lang="zh-CN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优劣</a:t>
            </a:r>
            <a:endParaRPr lang="zh-CN" altLang="en-US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512064"/>
            <a:ext cx="8503920" cy="384048"/>
          </a:xfrm>
          <a:prstGeom prst="rect">
            <a:avLst/>
          </a:prstGeom>
          <a:solidFill>
            <a:srgbClr val="FEF0E3"/>
          </a:solidFill>
          <a:ln w="12700">
            <a:solidFill>
              <a:srgbClr val="FEF0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12064"/>
            <a:ext cx="54864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两套策略的优劣，不能只看最终收益，更要先看底层资产配置框架是否合理、可比、可解释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48874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138160" y="488746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005840"/>
            <a:ext cx="4160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 SAA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280160"/>
            <a:ext cx="41605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SAA（战略资产配置）解决的是更底层的问题：客户资金应先按什么风险收益结构分配到不同大类资产。它不是先回答“买哪只产品”，而是先确定现金、固收、股票、另类各自配多少。SAA 决定组合的长期骨架，产品选择与战术调整都在此基础上展开。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03120"/>
            <a:ext cx="347472" cy="34747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031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8096" y="2066544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大类资产比例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8096" y="230428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决定核心收益来源与波动来源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578608"/>
            <a:ext cx="4160520" cy="9144"/>
          </a:xfrm>
          <a:prstGeom prst="rect">
            <a:avLst/>
          </a:prstGeom>
          <a:solidFill>
            <a:srgbClr val="D8D0C6"/>
          </a:solidFill>
          <a:ln w="12700">
            <a:solidFill>
              <a:srgbClr val="D8D0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761488"/>
            <a:ext cx="347472" cy="347472"/>
          </a:xfrm>
          <a:prstGeom prst="ellipse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76148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8096" y="2724912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资产间相关性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68096" y="296265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决定组合能否真正分散风险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236976"/>
            <a:ext cx="4160520" cy="9144"/>
          </a:xfrm>
          <a:prstGeom prst="rect">
            <a:avLst/>
          </a:prstGeom>
          <a:solidFill>
            <a:srgbClr val="D8D0C6"/>
          </a:solidFill>
          <a:ln w="12700">
            <a:solidFill>
              <a:srgbClr val="D8D0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419856"/>
            <a:ext cx="347472" cy="34747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4198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8096" y="3383280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风险匹配度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8096" y="362102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决定方案是否适合、拿得住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895344"/>
            <a:ext cx="4160520" cy="9144"/>
          </a:xfrm>
          <a:prstGeom prst="rect">
            <a:avLst/>
          </a:prstGeom>
          <a:solidFill>
            <a:srgbClr val="D8D0C6"/>
          </a:solidFill>
          <a:ln w="12700">
            <a:solidFill>
              <a:srgbClr val="D8D0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4078224"/>
            <a:ext cx="347472" cy="347472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0782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8096" y="4041648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投资期限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68096" y="427939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决定风险预算高低与时点约束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553712"/>
            <a:ext cx="4160520" cy="9144"/>
          </a:xfrm>
          <a:prstGeom prst="rect">
            <a:avLst/>
          </a:prstGeom>
          <a:solidFill>
            <a:srgbClr val="D8D0C6"/>
          </a:solidFill>
          <a:ln w="12700">
            <a:solidFill>
              <a:srgbClr val="D8D0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005840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比较前必须统一四项基础条件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1316736"/>
            <a:ext cx="3886200" cy="530352"/>
          </a:xfrm>
          <a:prstGeom prst="rect">
            <a:avLst/>
          </a:prstGeom>
          <a:solidFill>
            <a:srgbClr val="FFFAF4"/>
          </a:solidFill>
          <a:ln w="12700">
            <a:solidFill>
              <a:srgbClr val="F479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92040" y="1316736"/>
            <a:ext cx="54864" cy="53035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38344" y="1399032"/>
            <a:ext cx="3685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统一资产口径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38344" y="1645920"/>
            <a:ext cx="3685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将所有产品映射到 CASH / BOND / EQUITY / ALT 四类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92040" y="1920240"/>
            <a:ext cx="3886200" cy="530352"/>
          </a:xfrm>
          <a:prstGeom prst="rect">
            <a:avLst/>
          </a:prstGeom>
          <a:solidFill>
            <a:srgbClr val="FFFAF4"/>
          </a:solidFill>
          <a:ln w="12700">
            <a:solidFill>
              <a:srgbClr val="1A8FA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92040" y="1920240"/>
            <a:ext cx="54864" cy="530352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38344" y="2002536"/>
            <a:ext cx="3685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统一风险锚体系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38344" y="2249424"/>
            <a:ext cx="3685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生命周期 × 风险等级乘数确定每个画像的风险预算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92040" y="2523744"/>
            <a:ext cx="3886200" cy="530352"/>
          </a:xfrm>
          <a:prstGeom prst="rect">
            <a:avLst/>
          </a:prstGeom>
          <a:solidFill>
            <a:srgbClr val="FFFAF4"/>
          </a:solidFill>
          <a:ln w="12700">
            <a:solidFill>
              <a:srgbClr val="2E8B5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92040" y="2523744"/>
            <a:ext cx="54864" cy="5303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38344" y="2606040"/>
            <a:ext cx="3685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统一客户画像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38344" y="2852928"/>
            <a:ext cx="3685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基于相同的 35 个 C1~C5 × S1~S7 客户分类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92040" y="3127248"/>
            <a:ext cx="3886200" cy="530352"/>
          </a:xfrm>
          <a:prstGeom prst="rect">
            <a:avLst/>
          </a:prstGeom>
          <a:solidFill>
            <a:srgbClr val="FFFAF4"/>
          </a:solidFill>
          <a:ln w="12700">
            <a:solidFill>
              <a:srgbClr val="E05C4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92040" y="3127248"/>
            <a:ext cx="54864" cy="530352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38344" y="3209544"/>
            <a:ext cx="3685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统一评价维度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038344" y="3456432"/>
            <a:ext cx="3685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同时比较收益、夏普、风险匹配度与极端回撤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先统一比较口径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12064"/>
            <a:ext cx="8503920" cy="384048"/>
          </a:xfrm>
          <a:prstGeom prst="rect">
            <a:avLst/>
          </a:prstGeom>
          <a:solidFill>
            <a:srgbClr val="FEF0E3"/>
          </a:solidFill>
          <a:ln w="12700">
            <a:solidFill>
              <a:srgbClr val="FEF0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12064"/>
            <a:ext cx="54864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只有先统一资产定义、收益表征口径和风险标准，两套策略的比较结果才具备解释性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48874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138160" y="488746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005840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四大类资产统一映射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320040" y="1280160"/>
          <a:ext cx="4663440" cy="150876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3200400"/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资产类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定义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指数口径（Total Return）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现金类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中债货币市场基金可投资债券财富（总值）指数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固收类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中债新综合指数·财富指数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股票类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沪深 300 全收益指数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另类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× AU9999 + 30% × 南华商品指数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20040" y="2852928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为什么必须先统一资产口径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20040" y="3108960"/>
            <a:ext cx="4663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若不统一，比较结果会混入资产定义差异、分类映射差异、指数口径差异、产品池差异，最终得到的不是纯粹策略差异，而是“口径差异 + 策略差异”的混合结果。统一到底层四大类资产后，收益、波动、夏普、回撤等指标才建立在一致的市场基准上。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166360" y="100584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两层风险锚体系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166360" y="1280160"/>
            <a:ext cx="3611880" cy="731520"/>
          </a:xfrm>
          <a:prstGeom prst="rect">
            <a:avLst/>
          </a:prstGeom>
          <a:solidFill>
            <a:srgbClr val="FFFAF4"/>
          </a:solidFill>
          <a:ln w="12700">
            <a:solidFill>
              <a:srgbClr val="F479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166360" y="1280160"/>
            <a:ext cx="79375" cy="73152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21808" y="1353312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生命周期  →  σ_stage_max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321808" y="1591056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决定风险预算基础上限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年轻阶段 human capital 高，越接近退休越收敛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166360" y="2121408"/>
            <a:ext cx="3611880" cy="731520"/>
          </a:xfrm>
          <a:prstGeom prst="rect">
            <a:avLst/>
          </a:prstGeom>
          <a:solidFill>
            <a:srgbClr val="FFFAF4"/>
          </a:solidFill>
          <a:ln w="12700">
            <a:solidFill>
              <a:srgbClr val="1A8FA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166360" y="2121535"/>
            <a:ext cx="76200" cy="731520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21808" y="2194560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风险等级  →  m_risk 乘数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321808" y="2432304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决定同一生命周期内的横向分层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保守 0.45  →  C5 激进 1.00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166360" y="3017520"/>
            <a:ext cx="3587115" cy="1019810"/>
          </a:xfrm>
          <a:prstGeom prst="rect">
            <a:avLst/>
          </a:prstGeom>
          <a:solidFill>
            <a:srgbClr val="FEF0E3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H="1">
            <a:off x="5157470" y="3017520"/>
            <a:ext cx="78740" cy="1005205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21808" y="3072384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核心计算变量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21808" y="3291840"/>
            <a:ext cx="3383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σ_cap = σ_stage_max × m_risk （画像风险上限）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σ_mid = 0.8 × σ_cap （目标风险中枢）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σ_min = 0.6 × σ_cap （风险预算使用下界）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MaxDD （最大回撤红线，独立约束）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20040" y="44851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167128" y="448513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468880" y="44851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315968" y="448513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617720" y="44851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464808" y="448513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766560" y="44851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策略比较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风险锚参数表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12064"/>
            <a:ext cx="8503920" cy="384048"/>
          </a:xfrm>
          <a:prstGeom prst="rect">
            <a:avLst/>
          </a:prstGeom>
          <a:solidFill>
            <a:srgbClr val="FEF0E3"/>
          </a:solidFill>
          <a:ln w="12700">
            <a:solidFill>
              <a:srgbClr val="FEF0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12064"/>
            <a:ext cx="54864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本报告用“生命周期参数 × 风险等级乘数”定义每个客户画像的风险上限，以最大回撤红线补充尾部约束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48874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138160" y="488746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005840"/>
            <a:ext cx="5166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生命周期参数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320040" y="1280160"/>
          <a:ext cx="5166360" cy="2029968"/>
        </p:xfrm>
        <a:graphic>
          <a:graphicData uri="http://schemas.openxmlformats.org/drawingml/2006/table">
            <a:tbl>
              <a:tblPr/>
              <a:tblGrid>
                <a:gridCol w="384048"/>
                <a:gridCol w="804672"/>
                <a:gridCol w="749808"/>
                <a:gridCol w="3227832"/>
              </a:tblGrid>
              <a:tr h="253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生命周期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σ_stage_max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设计依据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刚毕业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积累早期，人力资本高，投资期限长，可承受较高波动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单身青年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仍以长期积累为主，财务负担相对轻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二人世界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家庭责任上升，风险预算适度收敛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小孩学前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现金流支出增加，风险预算维持中等水平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成年前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教育与家庭支出压力上升，风险进一步收敛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子女成年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进入财富稳态与退休准备阶段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退休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以保值、回撤控制与流动性管理为主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0" y="10058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风险等级乘数与回撤红线</a:t>
            </a:r>
            <a:endParaRPr lang="en-US" sz="11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/>
        </p:nvGraphicFramePr>
        <p:xfrm>
          <a:off x="5669280" y="1280160"/>
          <a:ext cx="3108960" cy="1463040"/>
        </p:xfrm>
        <a:graphic>
          <a:graphicData uri="http://schemas.openxmlformats.org/drawingml/2006/table">
            <a:tbl>
              <a:tblPr/>
              <a:tblGrid>
                <a:gridCol w="365760"/>
                <a:gridCol w="645795"/>
                <a:gridCol w="608330"/>
                <a:gridCol w="1489075"/>
              </a:tblGrid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等级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m_risk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MaxDD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−5%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保守型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−10%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稳健型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−15%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平衡型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−20%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进取型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−25%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激进型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669280" y="2901315"/>
            <a:ext cx="3066415" cy="531495"/>
          </a:xfrm>
          <a:prstGeom prst="rect">
            <a:avLst/>
          </a:prstGeom>
          <a:solidFill>
            <a:srgbClr val="FEF0E3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69280" y="2901950"/>
            <a:ext cx="54864" cy="53035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15584" y="288036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计算示例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815584" y="3090672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C3/S3: 0.14 × 0.75 = 10.5% C1/S7: 0.08 × 0.45 = 3.6% C5/S1: 0.16 × 1.00 = 16.0%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20040" y="3821430"/>
            <a:ext cx="8503920" cy="930910"/>
          </a:xfrm>
          <a:prstGeom prst="rect">
            <a:avLst/>
          </a:prstGeom>
          <a:solidFill>
            <a:srgbClr val="FFFAF4"/>
          </a:solidFill>
          <a:ln w="12700">
            <a:solidFill>
              <a:srgbClr val="D8D0C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02920" y="341071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75615" y="3863340"/>
            <a:ext cx="8303260" cy="821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这套</a:t>
            </a:r>
            <a:r>
              <a:rPr lang="en-US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统一风险锚体系</a:t>
            </a:r>
            <a:r>
              <a:rPr lang="en-US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不是随意设定，而是参考了</a:t>
            </a:r>
            <a:r>
              <a:rPr lang="en-US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Vanguard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BlackRock 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等海外主流</a:t>
            </a:r>
            <a:r>
              <a:rPr lang="en-US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Target-Date Fund 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</a:t>
            </a:r>
            <a:r>
              <a:rPr lang="en-US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glide path 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设计思路，用于支撑风险预算随人生阶段递减、随风险偏好分层的设计逻辑。</a:t>
            </a:r>
            <a:endParaRPr lang="en-US" altLang="en-US" sz="1000" b="1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年轻阶段</a:t>
            </a:r>
            <a:r>
              <a:rPr lang="en-US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 capital 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更高，可承受更高波动</a:t>
            </a:r>
            <a:endParaRPr lang="zh-CN" altLang="en-US" sz="1000" b="1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altLang="zh-CN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生命周期后段投资</a:t>
            </a:r>
            <a:r>
              <a:rPr lang="en-US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horizon 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更短</a:t>
            </a:r>
            <a:r>
              <a:rPr lang="en-US" altLang="zh-CN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r>
              <a:rPr lang="zh-CN" alt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越难承受大回撤后的修复周期</a:t>
            </a:r>
            <a:endParaRPr lang="zh-CN" altLang="en-US" sz="1000" b="1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320294" y="462711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837176" y="3410712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837176" y="363016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个画像风险梯度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12064"/>
            <a:ext cx="8503920" cy="384048"/>
          </a:xfrm>
          <a:prstGeom prst="rect">
            <a:avLst/>
          </a:prstGeom>
          <a:solidFill>
            <a:srgbClr val="FEF0E3"/>
          </a:solidFill>
          <a:ln w="12700">
            <a:solidFill>
              <a:srgbClr val="FEF0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12064"/>
            <a:ext cx="54864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生命周期与风险等级组合后，形成 35 个客户画像的连续风险梯度，覆盖 3.6% ～ 16.0% 的完整 σ_cap 区间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48874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138160" y="488746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6309360" cy="29992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84848" y="1005840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梯度规律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784848" y="1316736"/>
            <a:ext cx="2011680" cy="768096"/>
          </a:xfrm>
          <a:prstGeom prst="rect">
            <a:avLst/>
          </a:prstGeom>
          <a:solidFill>
            <a:srgbClr val="FFFAF4"/>
          </a:solidFill>
          <a:ln w="12700">
            <a:solidFill>
              <a:srgbClr val="F479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784848" y="1316736"/>
            <a:ext cx="54864" cy="76809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31152" y="1389888"/>
            <a:ext cx="17922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横向分层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931152" y="1609344"/>
            <a:ext cx="17922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同一生命周期内，风险等级越高，σ_cap 越大——反映适当性差异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784848" y="2212848"/>
            <a:ext cx="2011680" cy="768096"/>
          </a:xfrm>
          <a:prstGeom prst="rect">
            <a:avLst/>
          </a:prstGeom>
          <a:solidFill>
            <a:srgbClr val="FFFAF4"/>
          </a:solidFill>
          <a:ln w="12700">
            <a:solidFill>
              <a:srgbClr val="1A8FA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784848" y="2212848"/>
            <a:ext cx="54864" cy="768096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31152" y="2286000"/>
            <a:ext cx="17922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纵向递减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31152" y="2505456"/>
            <a:ext cx="17922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同一风险等级下，生命周期越靠后，σ_cap 越小——反映时间结构约束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84848" y="3108960"/>
            <a:ext cx="2011680" cy="768096"/>
          </a:xfrm>
          <a:prstGeom prst="rect">
            <a:avLst/>
          </a:prstGeom>
          <a:solidFill>
            <a:srgbClr val="FFFAF4"/>
          </a:solidFill>
          <a:ln w="12700">
            <a:solidFill>
              <a:srgbClr val="2E8B5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784848" y="3108960"/>
            <a:ext cx="54864" cy="76809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31152" y="3182112"/>
            <a:ext cx="17922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连续梯度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931152" y="3401568"/>
            <a:ext cx="17922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两组变量正交组合，形成连续分布，比粗颗粒规则能更细致刻画差异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4320" y="4041648"/>
            <a:ext cx="8595360" cy="365760"/>
          </a:xfrm>
          <a:prstGeom prst="rect">
            <a:avLst/>
          </a:prstGeom>
          <a:solidFill>
            <a:srgbClr val="ECEAE6"/>
          </a:solidFill>
          <a:ln w="12700">
            <a:solidFill>
              <a:srgbClr val="D8D0C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912" y="4096512"/>
            <a:ext cx="8339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后续所有策略比较均在这 35 个画像的统一风险预算地图上进行——相同画像下的配置权重、收益、夏普、风险匹配结果，才具备直接可比性。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vs 420 权重对比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48874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138160" y="488746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6344" y="1078992"/>
            <a:ext cx="3886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" y="1316736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28616" y="1078992"/>
            <a:ext cx="3886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28616" y="1362456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1627632"/>
            <a:ext cx="8503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004050" y="2004695"/>
            <a:ext cx="1938655" cy="549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+mn-ea"/>
            </a:endParaRP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2660650" y="4754118"/>
            <a:ext cx="19385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855337" y="4681093"/>
            <a:ext cx="19385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031609" y="4680458"/>
            <a:ext cx="19385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收益与效率对比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12064"/>
            <a:ext cx="8503920" cy="384048"/>
          </a:xfrm>
          <a:prstGeom prst="rect">
            <a:avLst/>
          </a:prstGeom>
          <a:solidFill>
            <a:srgbClr val="FEF0E3"/>
          </a:solidFill>
          <a:ln w="12700">
            <a:solidFill>
              <a:srgbClr val="FEF0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12064"/>
            <a:ext cx="54864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1年、3年、5年、10年四个窗口中，3.0 的平均年化收益与平均夏普全面领先，且未见明显风险超配痕迹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48874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138160" y="4887595"/>
            <a:ext cx="74993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05840"/>
            <a:ext cx="4114800" cy="2395728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005840"/>
            <a:ext cx="4114800" cy="23957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" y="3438144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平均年化收益率对比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773168" y="3438144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平均夏普比率对比（橙色区域为领先幅度）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256032" y="3675888"/>
          <a:ext cx="8631936" cy="1028700"/>
        </p:xfrm>
        <a:graphic>
          <a:graphicData uri="http://schemas.openxmlformats.org/drawingml/2006/table">
            <a:tbl>
              <a:tblPr/>
              <a:tblGrid>
                <a:gridCol w="384048"/>
                <a:gridCol w="841248"/>
                <a:gridCol w="841248"/>
                <a:gridCol w="621792"/>
                <a:gridCol w="621792"/>
                <a:gridCol w="713232"/>
                <a:gridCol w="713232"/>
                <a:gridCol w="932688"/>
                <a:gridCol w="932688"/>
              </a:tblGrid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窗口</a:t>
                      </a:r>
                      <a:endParaRPr lang="en-US" sz="8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年化收益 3.0</a:t>
                      </a:r>
                      <a:endParaRPr lang="en-US" sz="8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79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年化收益 420</a:t>
                      </a:r>
                      <a:endParaRPr lang="en-US" sz="8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79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夏普 3.0</a:t>
                      </a:r>
                      <a:endParaRPr lang="en-US" sz="8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8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夏普 420</a:t>
                      </a:r>
                      <a:endParaRPr lang="en-US" sz="8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8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|Δσ| 3.0</a:t>
                      </a:r>
                      <a:endParaRPr lang="en-US" sz="8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|Δσ| 420</a:t>
                      </a:r>
                      <a:endParaRPr lang="en-US" sz="8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MaxDD超标率 3.0</a:t>
                      </a:r>
                      <a:endParaRPr lang="en-US" sz="8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MaxDD超标率 420</a:t>
                      </a:r>
                      <a:endParaRPr lang="en-US" sz="8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1y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11.78%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2.23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2.84%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3.93%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10.25%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7.46%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1.57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2.86%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5y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7.17%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5.07%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2.39%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2.88%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10y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7.12%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5.74%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8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384048" y="4581144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2560320" y="4581144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2560320" y="4782312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736592" y="4581144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736592" y="4782312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6912864" y="4581144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507734" y="4809617"/>
            <a:ext cx="184708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风险匹配与胜率对比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12064"/>
            <a:ext cx="8503920" cy="384048"/>
          </a:xfrm>
          <a:prstGeom prst="rect">
            <a:avLst/>
          </a:prstGeom>
          <a:solidFill>
            <a:srgbClr val="FEF0E3"/>
          </a:solidFill>
          <a:ln w="12700">
            <a:solidFill>
              <a:srgbClr val="FEF0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12064"/>
            <a:ext cx="54864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512064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的收益优势并非建立在明显偏离风险预算之上——|Δσ| 更低，胜率更高，回撤约束两者均满足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48874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05840"/>
            <a:ext cx="4114800" cy="23317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6032" y="3364992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|Δσ| 对比（越低越贴近风险预算）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256032" y="3602736"/>
          <a:ext cx="4114800" cy="1295400"/>
        </p:xfrm>
        <a:graphic>
          <a:graphicData uri="http://schemas.openxmlformats.org/drawingml/2006/table">
            <a:tbl>
              <a:tblPr/>
              <a:tblGrid>
                <a:gridCol w="411480"/>
                <a:gridCol w="640080"/>
                <a:gridCol w="640080"/>
                <a:gridCol w="640080"/>
                <a:gridCol w="914400"/>
                <a:gridCol w="868680"/>
              </a:tblGrid>
              <a:tr h="1609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窗口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|Δσ| 3.0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|Δσ| 420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差值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MaxDD超标率 3.0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MaxDD超标率 420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2.84%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3.93%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−1.09%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2.86%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−0.53%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2.39%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2.88%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−0.49%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−0.49%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663440" y="100584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相对 420 的胜率（35 个画像中 3.0 优于 420 的比例）</a:t>
            </a:r>
            <a:endParaRPr lang="en-US" sz="9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98448"/>
            <a:ext cx="4206240" cy="2048256"/>
          </a:xfrm>
          <a:prstGeom prst="rect">
            <a:avLst/>
          </a:prstGeom>
        </p:spPr>
      </p:pic>
      <p:graphicFrame>
        <p:nvGraphicFramePr>
          <p:cNvPr id="15" name="Table 1"/>
          <p:cNvGraphicFramePr>
            <a:graphicFrameLocks noGrp="1"/>
          </p:cNvGraphicFramePr>
          <p:nvPr/>
        </p:nvGraphicFramePr>
        <p:xfrm>
          <a:off x="4663440" y="3383280"/>
          <a:ext cx="4206240" cy="804672"/>
        </p:xfrm>
        <a:graphic>
          <a:graphicData uri="http://schemas.openxmlformats.org/drawingml/2006/table">
            <a:tbl>
              <a:tblPr/>
              <a:tblGrid>
                <a:gridCol w="548640"/>
                <a:gridCol w="1005840"/>
                <a:gridCol w="1005840"/>
                <a:gridCol w="1645920"/>
              </a:tblGrid>
              <a:tr h="1609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窗口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收益胜率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夏普胜率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风险匹配胜率</a:t>
                      </a:r>
                      <a:endParaRPr lang="en-US" sz="9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77.1%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62.9%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</a:tr>
              <a:tr h="1609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10y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57.1%</a:t>
                      </a:r>
                      <a:endParaRPr lang="en-US" sz="9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</a:tbl>
          </a:graphicData>
        </a:graphic>
      </p:graphicFrame>
      <p:sp>
        <p:nvSpPr>
          <p:cNvPr id="18" name="Text 12"/>
          <p:cNvSpPr/>
          <p:nvPr/>
        </p:nvSpPr>
        <p:spPr>
          <a:xfrm>
            <a:off x="4663440" y="4759325"/>
            <a:ext cx="2491740" cy="273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|Δσ| = |组合实际年化波动率 − σ_mid|，衡量组合风险对目标风险中枢的偏离程度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02336" y="4485132"/>
            <a:ext cx="84856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2559</Words>
  <Application>WPS Docs</Application>
  <PresentationFormat>On-screen Show (16:9)</PresentationFormat>
  <Paragraphs>473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SimSun</vt:lpstr>
      <vt:lpstr>汉仪书宋二KW</vt:lpstr>
      <vt:lpstr>Microsoft YaHei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量化策略对比汇报</dc:title>
  <dc:creator>PptxGenJS</dc:creator>
  <dc:subject>PptxGenJS Presentation</dc:subject>
  <cp:lastModifiedBy>Leon LZY</cp:lastModifiedBy>
  <cp:revision>14</cp:revision>
  <dcterms:created xsi:type="dcterms:W3CDTF">2026-04-15T02:36:57Z</dcterms:created>
  <dcterms:modified xsi:type="dcterms:W3CDTF">2026-04-15T02:36:57Z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0E7A31594B5278B33268DE69CF563D09_42</vt:lpwstr>
  </property>
  <property fmtid="{D5CDD505-2E9C-101B-9397-08002B2CF9AE}" pid="3" name="KSOProductBuildVer">
    <vt:lpwstr>1033-12.1.25205.25205</vt:lpwstr>
  </property>
</Properties>
</file>